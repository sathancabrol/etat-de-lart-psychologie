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706.0376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312.0075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401.04088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research/o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1.12948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203.1117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305.10601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0.20345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l.acm.org/doi/10.1145/3704268.374270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0.20345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1.04898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706.03762" TargetMode="External"/><Relationship Id="rId3" Type="http://schemas.openxmlformats.org/officeDocument/2006/relationships/hyperlink" Target="https://arxiv.org/abs/2312.00752" TargetMode="External"/><Relationship Id="rId4" Type="http://schemas.openxmlformats.org/officeDocument/2006/relationships/hyperlink" Target="https://arxiv.org/abs/2401.04088" TargetMode="External"/><Relationship Id="rId5" Type="http://schemas.openxmlformats.org/officeDocument/2006/relationships/hyperlink" Target="https://openai.com/research/o1" TargetMode="External"/><Relationship Id="rId6" Type="http://schemas.openxmlformats.org/officeDocument/2006/relationships/hyperlink" Target="https://arxiv.org/abs/2501.12948" TargetMode="External"/><Relationship Id="rId7" Type="http://schemas.openxmlformats.org/officeDocument/2006/relationships/hyperlink" Target="https://arxiv.org/abs/2203.11171" TargetMode="External"/><Relationship Id="rId8" Type="http://schemas.openxmlformats.org/officeDocument/2006/relationships/hyperlink" Target="https://arxiv.org/abs/2305.10601" TargetMode="External"/><Relationship Id="rId9" Type="http://schemas.openxmlformats.org/officeDocument/2006/relationships/hyperlink" Target="https://arxiv.org/abs/2510.20345" TargetMode="External"/><Relationship Id="rId10" Type="http://schemas.openxmlformats.org/officeDocument/2006/relationships/hyperlink" Target="https://dl.acm.org/doi/10.1145/3704268.3742700" TargetMode="External"/><Relationship Id="rId11" Type="http://schemas.openxmlformats.org/officeDocument/2006/relationships/hyperlink" Target="https://arxiv.org/abs/2511.0489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Architectures Cognitives Distribuées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496FF"/>
                </a:solidFill>
              </a:defRPr>
            </a:pPr>
            <a:r>
              <a:t>De la Fondation (2018-2025) aux Interfaces Intelligentes (2040-2045)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La Problématique Centrale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❓ Comment transformer les modèles d'IA en systèmes qui raisonnent, apprennent et s'expliquent?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❓ Le bottleneck n'est pas la computation brute mais la REPRÉSENTATION et la NAVIGATION de la complexité cognitive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❓ Quelle couche intermédiaire manque entre agents autonomes et humains?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[Carte mentale vectorielle - SVG intégré]</a:t>
            </a:r>
            <a:br/>
            <a:br/>
            <a:r>
              <a:t>Les cinq piliers de la cognition distribuée:</a:t>
            </a:r>
            <a:br/>
            <a:r>
              <a:t>1. Scalabilité  2. Raisonnement  3. Représentation  4. Agentivité  5. Interface Cognitive (LE GAP)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[S01] Attention is All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👤 Vaswani, A., Shazeer, N., Parmar, N.,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📅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Advances in Neural Information Processing Systems (NeurIPS)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❓ Question:</a:t>
            </a:r>
            <a:br/>
            <a:r>
              <a:t>Comment remplacer la récurrence et les convolutions par un mécanisme d'attention pur?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Résultat:</a:t>
            </a:r>
            <a:br/>
            <a:r>
              <a:t>Architecture Transformer utilisant uniquement l'attention pour le traitement séquentiel avec parallélisation améliorée et réduction du temps d'entraînement.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🎯 Pertinence pour notre problématique:</a:t>
            </a:r>
            <a:br/>
            <a:br/>
            <a:r>
              <a:t>Fondation de tous les modèles modernes (GPT, BERT, LLaMA). Pilier de la scalabilité et de l'efficacité en IA. Ouvre la voie aux architectures hautement parallélisables.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arXiv:1706.03762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C - Modèle théorique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[S02] Mamba: Linear-Time Sequence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👤 Gu, A., Dao, 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📅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arXiv (Conference on Language Modeling - COLM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❓ Question:</a:t>
            </a:r>
            <a:br/>
            <a:r>
              <a:t>Comment réduire la complexité quadratique de l'attention tout en maintenant la performance?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Résultat:</a:t>
            </a:r>
            <a:br/>
            <a:r>
              <a:t>State Space Model (SSM) linéaire en temps avec performance équivalente aux Transformers, 5× plus rapide en génération.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🎯 Pertinence pour notre problématique:</a:t>
            </a:r>
            <a:br/>
            <a:br/>
            <a:r>
              <a:t>Démontre que les architectures alternatives aux Transformers peuvent égaler ou surpasser l'attention. Critique pour la scalabilité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arXiv:2312.00752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[S03] Mixtral 8x7B: Mixture of Experts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👤 Mistral AI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📅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❓ Question:</a:t>
            </a:r>
            <a:br/>
            <a:r>
              <a:t>Comment allouer efficacement le calcul à l'aide de multiples petits "experts"?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Résultat:</a:t>
            </a:r>
            <a:br/>
            <a:r>
              <a:t>Modèle MoE 8x7B surpasse Llama 2 70B avec efficacité computationnelle supérieure. Démontre le potentiel des architectures sparse.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🎯 Pertinence pour notre problématique:</a:t>
            </a:r>
            <a:br/>
            <a:br/>
            <a:r>
              <a:t>Montre que l'allocation intelligente de ressources &gt; augmentation brute du modèle. Scalabilité efficace versus scaling laws classiques.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arXiv:2401.04088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[S03]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[S04] OpenAI o1: Test-Time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OpenAI,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OpenAI 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peut-on améliorer le raisonnement en allouant plus de temps de calcul à l'inférence?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Modèle o1 utilisant test-time compute montre une amélioration significative sur les tâches mathématiques et de codage.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Pivot critique: le calcul n'est pas limité au training, l'inférence peut être enrichie par du raisonnement profond. Futur de l'IA = agents pensants.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OpenAI: o1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[S05] DeepSeek-R1: Reasoning via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DeepSeek-AI,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reproduire et améliorer les capacités de raisonnement profond d'o1?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DeepSeek-R1 utilise RL + test-time compute pour atteindre des capacités comparables à o1, avec efficacité opérationnelle supérieure.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Démontre que le raisonnement profond peut être répliqué et amélioré. Rend les agents pensants accessibles et évolutifs.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arXiv:2501.12948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[S05]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[S06] Chain-of-Thought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Wang, X., Wei, J.,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ICLR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faire en sorte que les LLM montrent leur raisonnement étape par étape?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Chain-of-Thought (CoT) prompting améliore significativement la performance en raisonnement complexe et multi-étapes.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Technique fondamentale pour rendre le raisonnement explicite et traçable. Base des architectures de test-time compute.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arXiv:2203.11171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C - Modèle théorique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[S06]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[S07] Tree-of-Thought: Exploration via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Yao, S., Yu, D., Zhao, J.,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généraliser CoT en permettant une exploration arborescente du raisonnement?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Tree-of-Thought (ToT) formule le raisonnement comme recherche dans un arbre d'états possibles, améliorant la résolution de problèmes complexes.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Ouvre la voie à des agents qui explorent plusieurs chemins de raisonnement simultanément. Critique pour les décisions intelligentes.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arXiv:2305.10601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C - Modèle théorique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[S07]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[S08] Knowledge Graphs as Cognitive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Lippolis, P., Liu, Z.,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Revue internationale de systèmes computationnels intelligents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les KG peuvent servir de couche intermédiaire entre l'entrée brute et le raisonnement LLM?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Knowledge Graphs structurent l'information et permettent un raisonnement symbolique hybride, améliorant la traçabilité et l'explicabilité.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Les KG ne sont pas juste du stockage—ce sont les substrats du raisonnement. Clé pour la cognition distribuée et explicable.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Revue complète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B - Revue de littérature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[S08]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[S09] Ontogenia: Metacognitive Ontology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Lippolis, L.,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Document Engineering Symposium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générer automatiquement des ontologies structurées à partir de LLMs?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Metacognitive prompting permet aux LLMs de générer et corriger des ontologies pendant la synthèse, améliorant cohérence et complexité.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Ontologies exécutables = graphes de compétence dynamiques. Pont entre KG et systèmes d'apprentissage continu.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ACM Conference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[S09]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[S10] VaLiK: Vision-Language Integrated KG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Liu, Z., et 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Conférence multimodale d'apprentissage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intégrer visuellement des entités dans les graphes de connaissance?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Vision-Language Models traduisent traits visuels en formes textuelles, liant images à entités KG sans annotation manuelle.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Multimodalité = graphes qui voient, entendent, lisent. Nécessaire pour interfaces cognitives réelles.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Vision-Language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[S10]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[S11] Counterfactual VLA: Self-Reflective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👤 Vision-Language-Action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📅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96FF"/>
                </a:solidFill>
              </a:defRPr>
            </a:pPr>
            <a:r>
              <a:t>📰 arXiv - Real-Time Reasoning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❓ Comment faire que les agents critiquent et améliorent leurs propres actions avant exécution?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</a:defRPr>
            </a:pPr>
            <a:r>
              <a:t>✅ Counterfactual VLA utilise auto-réflexion et feedback loops pour adapter le raisonnement à la difficulté de la tâche.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🎯 Agents pensants = agents auto-correcteurs. Clé pour l'autonomie réelle et l'adaptation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11480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hyperlink r:id="rId2"/>
            <a:pPr>
              <a:defRPr sz="1200" b="1" u="sng">
                <a:solidFill>
                  <a:srgbClr val="003399"/>
                </a:solidFill>
              </a:defRPr>
            </a:pPr>
            <a:r>
              <a:t>🔗 📄 Agents autonomes réels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Type: TYPE A - Empirique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486400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[S11]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1E32"/>
          </a:solidFill>
          <a:ln>
            <a:solidFill>
              <a:srgbClr val="1E1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SYNTHÈSE: Les 5 Piliers Convergents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7B68EE"/>
          </a:solidFill>
          <a:ln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1️⃣ SCALABILITÉ</a:t>
            </a:r>
            <a:br/>
            <a:r>
              <a:t>Transformers → State Space → Mixture of Experts</a:t>
            </a:r>
            <a:br/>
            <a:r>
              <a:t>[S01, S02, S03]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377439"/>
            <a:ext cx="8595360" cy="10972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2️⃣ RAISONNEMENT</a:t>
            </a:r>
            <a:br/>
            <a:r>
              <a:t>Test-Time Compute → Chain-of-Thought → Tree-of-Thought</a:t>
            </a:r>
            <a:br/>
            <a:r>
              <a:t>[S04, S05, S06, S07]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657599"/>
            <a:ext cx="8595360" cy="1097280"/>
          </a:xfrm>
          <a:prstGeom prst="rect">
            <a:avLst/>
          </a:prstGeom>
          <a:solidFill>
            <a:srgbClr val="51CF66"/>
          </a:solidFill>
          <a:ln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3️⃣ REPRÉSENTATION</a:t>
            </a:r>
            <a:br/>
            <a:r>
              <a:t>Knowledge Graphs → Ontologies → Multimodal KG</a:t>
            </a:r>
            <a:br/>
            <a:r>
              <a:t>[S08, S09, S10]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937759"/>
            <a:ext cx="8595360" cy="1097280"/>
          </a:xfrm>
          <a:prstGeom prst="rect">
            <a:avLst/>
          </a:prstGeom>
          <a:solidFill>
            <a:srgbClr val="FFD93D"/>
          </a:solidFill>
          <a:ln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02919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4️⃣ AGENTIVITÉ</a:t>
            </a:r>
            <a:br/>
            <a:r>
              <a:t>Auto-Réflexion → Counterfactual Reasoning → Feedback Loops</a:t>
            </a:r>
            <a:br/>
            <a:r>
              <a:t>[S11]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0000"/>
                </a:solidFill>
              </a:defRPr>
            </a:pPr>
            <a:r>
              <a:t>⬇ LE GAP: INTERFACE COGNITIVE → Visualisation temps-réel du raisonnement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🔴 HYPO 1: Dashboards Cognitifs Temps-Réel (LE GAP)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PROBLÈME IDENTIFIÉ:</a:t>
            </a:r>
            <a:br/>
            <a:br/>
            <a:r>
              <a:t>Aucune recherche publiée n'aborde la visualisation LIVE du raisonnement d'un agent pendant qu'il pense. Comment montrer à un humain ce qu'un agent pensant est en train de traiter en temps réel?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4CAF50"/>
                </a:solidFill>
              </a:defRPr>
            </a:pPr>
            <a:r>
              <a:t>PROPOSITION CONCEPTUELLE:</a:t>
            </a:r>
            <a:br/>
            <a:br/>
            <a:r>
              <a:t>• Capture du raisonnement en temps réel (traces, token chains, activations)</a:t>
            </a:r>
            <a:br/>
            <a:r>
              <a:t>• Rendering visuel multimodal (graphe → flux → load cognitif)</a:t>
            </a:r>
            <a:br/>
            <a:r>
              <a:t>• Interaction humain ↔ agent (poser des questions, influer le raisonnement)</a:t>
            </a:r>
            <a:br/>
            <a:r>
              <a:t>• Feedback immédiat sur qualité/pertinence du raisonnement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0000"/>
                </a:solidFill>
              </a:defRPr>
            </a:pPr>
            <a:r>
              <a:t>IMPACT 2040-2045:</a:t>
            </a:r>
            <a:br/>
            <a:br/>
            <a:r>
              <a:t>Cette couche intermédiaire devrait devenir CRITIQUE pour la confiance envers les agents IA. Sans visualisation du raisonnement, comment vérifier que l'agent ne "hallucine" pas?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69696"/>
                </a:solidFill>
              </a:defRPr>
            </a:pPr>
            <a:r>
              <a:t>[HYPO1] - TYPE G: Hypothèse personnelle / Synthèse émergente - SPÉCULATIF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1CF66"/>
          </a:solidFill>
          <a:ln>
            <a:solidFill>
              <a:srgbClr val="51C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🟢 HYPO 2: Graphes de Compétence Dynamiques &amp; Exécutables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323232"/>
                </a:solidFill>
              </a:defRPr>
            </a:pPr>
            <a:r>
              <a:t>PROBLÈME IDENTIFIÉ:</a:t>
            </a:r>
            <a:br/>
            <a:br/>
            <a:r>
              <a:t>Les Knowledge Graphs existants sont STATIQUES. Comment créer un graphe qui S'APPREND LUI-MÊME et évolue avec chaque interaction utilisateur?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CAF50"/>
                </a:solidFill>
              </a:defRPr>
            </a:pPr>
            <a:r>
              <a:t>PROPOSITION CONCEPTUELLE:</a:t>
            </a:r>
            <a:br/>
            <a:br/>
            <a:r>
              <a:t>• KG + Learning = Graphe qui restructure ses relations en temps réel</a:t>
            </a:r>
            <a:br/>
            <a:r>
              <a:t>• Compétences comme nœuds évolutifs (skill versioning)</a:t>
            </a:r>
            <a:br/>
            <a:r>
              <a:t>• Ontologies exécutables qui GÉNÈRENT des parcours d'apprentissage</a:t>
            </a:r>
            <a:br/>
            <a:r>
              <a:t>• Feedback loop: humain → apprentissage du graphe → adaptation</a:t>
            </a:r>
            <a:br/>
            <a:r>
              <a:t>• Application: Digital Human Twin capable d'autodécouverte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00"/>
                </a:solidFill>
              </a:defRPr>
            </a:pPr>
            <a:r>
              <a:t>IMPACT 2040-2045:</a:t>
            </a:r>
            <a:br/>
            <a:br/>
            <a:r>
              <a:t>Remplacerait les CV et les organigrammes statiques. Chaque personne/agent serait representé par un graphe de compétence vivant, adaptatif et prédictif.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69696"/>
                </a:solidFill>
              </a:defRPr>
            </a:pPr>
            <a:r>
              <a:t>[HYPO2] - TYPE G: Hypothèse personnelle / Synthèse émergente - PLAUSIBLE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96FF"/>
                </a:solidFill>
              </a:defRPr>
            </a:pPr>
            <a:r>
              <a:t>VISION 2040-2045</a:t>
            </a:r>
            <a:br/>
            <a:br/>
            <a:r>
              <a:t>Architectures Cognitives Distribuées Intelligibles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Convergence des 5 piliers fondamentaux:</a:t>
            </a:r>
            <a:br/>
            <a:br/>
            <a:r>
              <a:t>✅ Scalabilité efficace (Transformers → Mamba → MoE)</a:t>
            </a:r>
            <a:br/>
            <a:r>
              <a:t>✅ Raisonnement profond avec test-time compute</a:t>
            </a:r>
            <a:br/>
            <a:r>
              <a:t>✅ Représentation structurée via KG + ontologies</a:t>
            </a:r>
            <a:br/>
            <a:r>
              <a:t>✅ Agentivité autonome avec auto-réflexion</a:t>
            </a:r>
            <a:br/>
            <a:r>
              <a:t>🔴 GAP CRITIQUE: Interfaces cognitives temps-réel</a:t>
            </a:r>
            <a:br/>
            <a:br/>
            <a:r>
              <a:t>Les agents intelligents existeront. La question n'est pas "vont-ils exister?"</a:t>
            </a:r>
            <a:br/>
            <a:r>
              <a:t>mais "comment les rendre transparents et contrôlables?"</a:t>
            </a:r>
            <a:br/>
            <a:br/>
            <a:r>
              <a:t>Les dashboards cognitifs et les graphes de compétence dynamiques</a:t>
            </a:r>
            <a:br/>
            <a:r>
              <a:t>ne sont pas optionnels—ils sont l'interface de la réalité en 2045.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E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BIBLIOGRAPHIE COMPLÈTE &amp; SOURCES CLIQUABLES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Vaswani, A., Shazeer, N., et al. (2017)</a:t>
            </a:r>
            <a:br/>
            <a:r>
              <a:t>Attention is All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61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6187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Gu, A., Dao, T. (2023)</a:t>
            </a:r>
            <a:br/>
            <a:r>
              <a:t>Mamba: Linear-Time Sequence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007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0078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Mistral AI (2024)</a:t>
            </a:r>
            <a:br/>
            <a:r>
              <a:t>Mixtral 8x7B: Mixture of Experts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396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39696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OpenAI (2024)</a:t>
            </a:r>
            <a:br/>
            <a:r>
              <a:t>o1: Test-Time 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78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7860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DeepSeek-AI (2025)</a:t>
            </a:r>
            <a:br/>
            <a:r>
              <a:t>DeepSeek-R1: Reasoning via 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Wang, X., Wei, J., et al. (2023)</a:t>
            </a:r>
            <a:br/>
            <a:r>
              <a:t>Chain-of-Thought Prompting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564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[S07]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5643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Yao, S., et al. (2023)</a:t>
            </a:r>
            <a:br/>
            <a:r>
              <a:t>Tree-of-Thought: Exploration via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8953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[S08]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95344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Lippolis, P., Liu, Z., et al. (2025)</a:t>
            </a:r>
            <a:br/>
            <a:r>
              <a:t>KG as Cognitive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33425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[S09]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34256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Lippolis, L., et al. (2025)</a:t>
            </a:r>
            <a:br/>
            <a:r>
              <a:t>Ontogenia: Metacognitive Ontology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731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73168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Liu, Z., et al. (2025)</a:t>
            </a:r>
            <a:br/>
            <a:r>
              <a:t>VaLiK: Vision-Language Integrated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12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96FF"/>
                </a:solidFill>
              </a:defRPr>
            </a:pPr>
            <a:r>
              <a:t>[S11]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120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23232"/>
                </a:solidFill>
              </a:defRPr>
            </a:pPr>
            <a:r>
              <a:t>Vision-Language-Action Team (2025)</a:t>
            </a:r>
            <a:br/>
            <a:r>
              <a:t>Counterfactual VLA: Self-Reflective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